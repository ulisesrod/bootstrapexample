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6953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[0:00-0:30] Saludo breve. Presentar el tema (Bootstrap) y la agenda: qué es, cómo funciona, cuándo usarlo, comparativa con Tailwind, ecosistema actual, y luego demo en vivo de 5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[0:30-2:00] Explicar el problema histórico y dar la definición técnica precisa. Si preguntan el año exacto: lanzamiento inicial 19 de agosto de 2011, creado por Mark Otto y Jacob Thornton dentro de Twitter.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[2:00-4:00] Explicar las 3 capas en orden. En el grid: preguntar por qué 12 y no 10 -&gt; porque 12 es divisible entre 2, 3, 4 y 6, dando más combinaciones de columnas iguales. Conectar esto con la demo: el HTML que van a mostrar usa exactamente esta arquitectura (Sass compilado + grid + bundle JS).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[4:00-5:40] Mostrar visualmente las 12 columnas, el ejemplo de 3 col-md-4, y leer la tabla de breakpoints. Conectar directamente con la demo que viene: el formulario de inscripción usa exactamente col-md-6 y col-md-4.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[5:40-7:10] Explicar ambos lados sin sonar negativo sobre Bootstrap: es una herramienta con trade-offs. Conectar con la siguiente slide (comparativa con Tailwind).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[7:10-8:50] Esta es la comparativa que pide explícitamente el enunciado. Antes de hablar, recordar pegar los logos reales descargados de getbootstrap.com/brand y tailwindcss.com/brand en los recuadros marcados. Si preguntan '¿por qué no usaron Tailwind?' responder con esta tabla: priorizamos componentes preconstruidos y velocidad de desarrollo, el caso de uso donde Bootstrap gana.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[8:50-10:00] Cerrar la parte teórica con datos verificados (mencionar que se consultó la documentación oficial de getbootstrap.com, no solo opinión). Transición a la demo: los 3 integrantes se mueven a sus posiciones según el reparto de roles acordado.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952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572000" cy="4572000"/>
          </a:xfrm>
          <a:prstGeom prst="ellipse">
            <a:avLst/>
          </a:prstGeom>
          <a:solidFill>
            <a:srgbClr val="44337A">
              <a:alpha val="6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-1371600" y="4389120"/>
            <a:ext cx="3657600" cy="3657600"/>
          </a:xfrm>
          <a:prstGeom prst="ellipse">
            <a:avLst/>
          </a:prstGeom>
          <a:solidFill>
            <a:srgbClr val="44337A">
              <a:alpha val="45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31520" y="306324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F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framework CSS que estandarizó el diseño responsive en la web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7607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F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ISW-521 · Programación en Ambiente Web I  ·  UTN Sede San Carlos  ·  2026-II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 err="1">
                <a:solidFill>
                  <a:srgbClr val="EF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r>
              <a:rPr lang="en-US" sz="1400" i="1" dirty="0">
                <a:solidFill>
                  <a:srgbClr val="EF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Samuel </a:t>
            </a:r>
            <a:r>
              <a:rPr lang="es-ES" sz="1400" i="1" dirty="0">
                <a:solidFill>
                  <a:srgbClr val="EF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Fernández</a:t>
            </a:r>
            <a:r>
              <a:rPr lang="en-US" sz="1400" i="1" dirty="0">
                <a:solidFill>
                  <a:srgbClr val="EF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Alejandro Corrales · Ulises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1480"/>
            <a:ext cx="45720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48640" cy="548640"/>
          </a:xfrm>
          <a:prstGeom prst="ellipse">
            <a:avLst/>
          </a:prstGeom>
          <a:solidFill>
            <a:srgbClr val="7952B3"/>
          </a:solidFill>
          <a:ln/>
        </p:spPr>
        <p:txBody>
          <a:bodyPr/>
          <a:lstStyle/>
          <a:p>
            <a:endParaRPr lang="es-ES" sz="200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457200"/>
            <a:ext cx="365760" cy="3657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444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y qué problema resuelve?</a:t>
            </a:r>
            <a:endParaRPr lang="en-US" sz="3200" dirty="0"/>
          </a:p>
        </p:txBody>
      </p:sp>
      <p:sp>
        <p:nvSpPr>
          <p:cNvPr id="6" name="Shape 2"/>
          <p:cNvSpPr/>
          <p:nvPr/>
        </p:nvSpPr>
        <p:spPr>
          <a:xfrm>
            <a:off x="548640" y="13716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FE9F7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000"/>
          </a:p>
        </p:txBody>
      </p:sp>
      <p:sp>
        <p:nvSpPr>
          <p:cNvPr id="7" name="Text 3"/>
          <p:cNvSpPr/>
          <p:nvPr/>
        </p:nvSpPr>
        <p:spPr>
          <a:xfrm>
            <a:off x="868680" y="1600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43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histórico</a:t>
            </a: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868680" y="2103120"/>
            <a:ext cx="475488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2011, cada equipo escribía su propio CSS responsive desde cero.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inconsistencia visual y mucho tiempo perdido reinventando botones, formularios y grids.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nació dentro de Twitter, creado por Mark Otto y Jacob Thornton, para dar consistencia de interfaz sin depender de un diseñador en cada feature.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217920" y="13716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E1B2E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000"/>
          </a:p>
        </p:txBody>
      </p:sp>
      <p:sp>
        <p:nvSpPr>
          <p:cNvPr id="10" name="Text 6"/>
          <p:cNvSpPr/>
          <p:nvPr/>
        </p:nvSpPr>
        <p:spPr>
          <a:xfrm>
            <a:off x="6537960" y="1600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técnica</a:t>
            </a: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6537960" y="2103120"/>
            <a:ext cx="475488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EF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de código abierto compuesto de tres piezas: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F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estilos CSS con clases reutilizables (componentes + utilidades)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F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grid de 12 columnas basado en Flexbox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F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de JavaScript para componentes interactivos (modales, dropdowns, carousels)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ISW-521 · Programación en Ambiente Web I — Bootstrap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548640" cy="548640"/>
          </a:xfrm>
          <a:prstGeom prst="ellipse">
            <a:avLst/>
          </a:prstGeom>
          <a:solidFill>
            <a:srgbClr val="44337A"/>
          </a:solidFill>
          <a:ln/>
        </p:spPr>
        <p:txBody>
          <a:bodyPr/>
          <a:lstStyle/>
          <a:p>
            <a:endParaRPr lang="es-ES" sz="20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8463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funciona internamente?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en 3 capas, de la base a la interfaz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3657600" cy="4343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7952B3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000"/>
          </a:p>
        </p:txBody>
      </p:sp>
      <p:sp>
        <p:nvSpPr>
          <p:cNvPr id="7" name="Shape 4"/>
          <p:cNvSpPr/>
          <p:nvPr/>
        </p:nvSpPr>
        <p:spPr>
          <a:xfrm>
            <a:off x="822960" y="1783080"/>
            <a:ext cx="548640" cy="548640"/>
          </a:xfrm>
          <a:prstGeom prst="ellipse">
            <a:avLst/>
          </a:prstGeom>
          <a:solidFill>
            <a:srgbClr val="7952B3"/>
          </a:solidFill>
          <a:ln/>
        </p:spPr>
        <p:txBody>
          <a:bodyPr/>
          <a:lstStyle/>
          <a:p>
            <a:endParaRPr lang="es-ES" sz="2000"/>
          </a:p>
        </p:txBody>
      </p:sp>
      <p:sp>
        <p:nvSpPr>
          <p:cNvPr id="8" name="Text 5"/>
          <p:cNvSpPr/>
          <p:nvPr/>
        </p:nvSpPr>
        <p:spPr>
          <a:xfrm>
            <a:off x="82296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5146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795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Variables Sass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822960" y="301752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Colores, espaciados y tipografía se centralizan en _variables.scss. Cambiar una variable y recompilar actualiza todo el tema visual.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453128" y="1508760"/>
            <a:ext cx="3657600" cy="4343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44337A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000"/>
          </a:p>
        </p:txBody>
      </p:sp>
      <p:sp>
        <p:nvSpPr>
          <p:cNvPr id="12" name="Shape 9"/>
          <p:cNvSpPr/>
          <p:nvPr/>
        </p:nvSpPr>
        <p:spPr>
          <a:xfrm>
            <a:off x="4727448" y="1783080"/>
            <a:ext cx="548640" cy="548640"/>
          </a:xfrm>
          <a:prstGeom prst="ellipse">
            <a:avLst/>
          </a:prstGeom>
          <a:solidFill>
            <a:srgbClr val="44337A"/>
          </a:solidFill>
          <a:ln/>
        </p:spPr>
        <p:txBody>
          <a:bodyPr/>
          <a:lstStyle/>
          <a:p>
            <a:endParaRPr lang="es-ES" sz="2000"/>
          </a:p>
        </p:txBody>
      </p:sp>
      <p:sp>
        <p:nvSpPr>
          <p:cNvPr id="13" name="Text 10"/>
          <p:cNvSpPr/>
          <p:nvPr/>
        </p:nvSpPr>
        <p:spPr>
          <a:xfrm>
            <a:off x="4727448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4727448" y="25146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43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Sistema de Grid</a:t>
            </a: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727448" y="301752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columnas con Flexbox: container &gt; row &gt; col-*. Los breakpoints (sm/md/lg/xl/xxl) son @media queries predefinidos.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357616" y="1508760"/>
            <a:ext cx="3657600" cy="4343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1E1B2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8631936" y="1783080"/>
            <a:ext cx="548640" cy="548640"/>
          </a:xfrm>
          <a:prstGeom prst="ellipse">
            <a:avLst/>
          </a:prstGeom>
          <a:solidFill>
            <a:srgbClr val="1E1B2E"/>
          </a:solidFill>
          <a:ln/>
        </p:spPr>
        <p:txBody>
          <a:bodyPr/>
          <a:lstStyle/>
          <a:p>
            <a:endParaRPr lang="es-ES" sz="2000"/>
          </a:p>
        </p:txBody>
      </p:sp>
      <p:sp>
        <p:nvSpPr>
          <p:cNvPr id="18" name="Text 15"/>
          <p:cNvSpPr/>
          <p:nvPr/>
        </p:nvSpPr>
        <p:spPr>
          <a:xfrm>
            <a:off x="8631936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631936" y="25146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Componentes + JS</a:t>
            </a: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8631936" y="301752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 CSS para botones, cards, navbars. El bundle JS (con Popper.js) maneja modales, dropdowns y tooltips.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ISW-521 · Programación en Ambiente Web I — Bootstrap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548640" cy="548640"/>
          </a:xfrm>
          <a:prstGeom prst="ellipse">
            <a:avLst/>
          </a:prstGeom>
          <a:solidFill>
            <a:srgbClr val="7952B3"/>
          </a:solidFill>
          <a:ln/>
        </p:spPr>
        <p:txBody>
          <a:bodyPr/>
          <a:lstStyle/>
          <a:p>
            <a:endParaRPr lang="es-ES" sz="20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8463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3657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grid de 12 columnas en acción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885444" cy="640080"/>
          </a:xfrm>
          <a:prstGeom prst="rect">
            <a:avLst/>
          </a:prstGeom>
          <a:solidFill>
            <a:srgbClr val="7952B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 sz="2000"/>
          </a:p>
        </p:txBody>
      </p:sp>
      <p:sp>
        <p:nvSpPr>
          <p:cNvPr id="6" name="Shape 3"/>
          <p:cNvSpPr/>
          <p:nvPr/>
        </p:nvSpPr>
        <p:spPr>
          <a:xfrm>
            <a:off x="1470660" y="1554480"/>
            <a:ext cx="885444" cy="640080"/>
          </a:xfrm>
          <a:prstGeom prst="rect">
            <a:avLst/>
          </a:prstGeom>
          <a:solidFill>
            <a:srgbClr val="7952B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 sz="2000"/>
          </a:p>
        </p:txBody>
      </p:sp>
      <p:sp>
        <p:nvSpPr>
          <p:cNvPr id="7" name="Shape 4"/>
          <p:cNvSpPr/>
          <p:nvPr/>
        </p:nvSpPr>
        <p:spPr>
          <a:xfrm>
            <a:off x="2392680" y="1554480"/>
            <a:ext cx="885444" cy="640080"/>
          </a:xfrm>
          <a:prstGeom prst="rect">
            <a:avLst/>
          </a:prstGeom>
          <a:solidFill>
            <a:srgbClr val="7952B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 sz="2000"/>
          </a:p>
        </p:txBody>
      </p:sp>
      <p:sp>
        <p:nvSpPr>
          <p:cNvPr id="8" name="Shape 5"/>
          <p:cNvSpPr/>
          <p:nvPr/>
        </p:nvSpPr>
        <p:spPr>
          <a:xfrm>
            <a:off x="3314700" y="1554480"/>
            <a:ext cx="885444" cy="640080"/>
          </a:xfrm>
          <a:prstGeom prst="rect">
            <a:avLst/>
          </a:prstGeom>
          <a:solidFill>
            <a:srgbClr val="7952B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 sz="2000"/>
          </a:p>
        </p:txBody>
      </p:sp>
      <p:sp>
        <p:nvSpPr>
          <p:cNvPr id="9" name="Shape 6"/>
          <p:cNvSpPr/>
          <p:nvPr/>
        </p:nvSpPr>
        <p:spPr>
          <a:xfrm>
            <a:off x="4236720" y="1554480"/>
            <a:ext cx="885444" cy="640080"/>
          </a:xfrm>
          <a:prstGeom prst="rect">
            <a:avLst/>
          </a:prstGeom>
          <a:solidFill>
            <a:srgbClr val="7952B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 sz="2000"/>
          </a:p>
        </p:txBody>
      </p:sp>
      <p:sp>
        <p:nvSpPr>
          <p:cNvPr id="10" name="Shape 7"/>
          <p:cNvSpPr/>
          <p:nvPr/>
        </p:nvSpPr>
        <p:spPr>
          <a:xfrm>
            <a:off x="5158740" y="1554480"/>
            <a:ext cx="885444" cy="640080"/>
          </a:xfrm>
          <a:prstGeom prst="rect">
            <a:avLst/>
          </a:prstGeom>
          <a:solidFill>
            <a:srgbClr val="7952B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 sz="2000"/>
          </a:p>
        </p:txBody>
      </p:sp>
      <p:sp>
        <p:nvSpPr>
          <p:cNvPr id="11" name="Shape 8"/>
          <p:cNvSpPr/>
          <p:nvPr/>
        </p:nvSpPr>
        <p:spPr>
          <a:xfrm>
            <a:off x="6080760" y="1554480"/>
            <a:ext cx="885444" cy="640080"/>
          </a:xfrm>
          <a:prstGeom prst="rect">
            <a:avLst/>
          </a:prstGeom>
          <a:solidFill>
            <a:srgbClr val="7952B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 sz="2000"/>
          </a:p>
        </p:txBody>
      </p:sp>
      <p:sp>
        <p:nvSpPr>
          <p:cNvPr id="12" name="Shape 9"/>
          <p:cNvSpPr/>
          <p:nvPr/>
        </p:nvSpPr>
        <p:spPr>
          <a:xfrm>
            <a:off x="7002780" y="1554480"/>
            <a:ext cx="885444" cy="640080"/>
          </a:xfrm>
          <a:prstGeom prst="rect">
            <a:avLst/>
          </a:prstGeom>
          <a:solidFill>
            <a:srgbClr val="7952B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 sz="2000"/>
          </a:p>
        </p:txBody>
      </p:sp>
      <p:sp>
        <p:nvSpPr>
          <p:cNvPr id="13" name="Shape 10"/>
          <p:cNvSpPr/>
          <p:nvPr/>
        </p:nvSpPr>
        <p:spPr>
          <a:xfrm>
            <a:off x="7924800" y="1554480"/>
            <a:ext cx="885444" cy="640080"/>
          </a:xfrm>
          <a:prstGeom prst="rect">
            <a:avLst/>
          </a:prstGeom>
          <a:solidFill>
            <a:srgbClr val="7952B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 sz="2000"/>
          </a:p>
        </p:txBody>
      </p:sp>
      <p:sp>
        <p:nvSpPr>
          <p:cNvPr id="14" name="Shape 11"/>
          <p:cNvSpPr/>
          <p:nvPr/>
        </p:nvSpPr>
        <p:spPr>
          <a:xfrm>
            <a:off x="8846820" y="1554480"/>
            <a:ext cx="885444" cy="640080"/>
          </a:xfrm>
          <a:prstGeom prst="rect">
            <a:avLst/>
          </a:prstGeom>
          <a:solidFill>
            <a:srgbClr val="7952B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 sz="2000"/>
          </a:p>
        </p:txBody>
      </p:sp>
      <p:sp>
        <p:nvSpPr>
          <p:cNvPr id="15" name="Shape 12"/>
          <p:cNvSpPr/>
          <p:nvPr/>
        </p:nvSpPr>
        <p:spPr>
          <a:xfrm>
            <a:off x="9768840" y="1554480"/>
            <a:ext cx="885444" cy="640080"/>
          </a:xfrm>
          <a:prstGeom prst="rect">
            <a:avLst/>
          </a:prstGeom>
          <a:solidFill>
            <a:srgbClr val="7952B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 sz="2000"/>
          </a:p>
        </p:txBody>
      </p:sp>
      <p:sp>
        <p:nvSpPr>
          <p:cNvPr id="16" name="Shape 13"/>
          <p:cNvSpPr/>
          <p:nvPr/>
        </p:nvSpPr>
        <p:spPr>
          <a:xfrm>
            <a:off x="10690860" y="1554480"/>
            <a:ext cx="885444" cy="640080"/>
          </a:xfrm>
          <a:prstGeom prst="rect">
            <a:avLst/>
          </a:prstGeom>
          <a:solidFill>
            <a:srgbClr val="7952B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/>
          <p:nvPr/>
        </p:nvSpPr>
        <p:spPr>
          <a:xfrm>
            <a:off x="548640" y="2286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&gt; row &gt; 12 columnas disponibles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2743200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7952B3"/>
          </a:solidFill>
          <a:ln/>
        </p:spPr>
        <p:txBody>
          <a:bodyPr/>
          <a:lstStyle/>
          <a:p>
            <a:endParaRPr lang="es-ES" sz="2000"/>
          </a:p>
        </p:txBody>
      </p:sp>
      <p:sp>
        <p:nvSpPr>
          <p:cNvPr id="19" name="Text 16"/>
          <p:cNvSpPr/>
          <p:nvPr/>
        </p:nvSpPr>
        <p:spPr>
          <a:xfrm>
            <a:off x="548640" y="27432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col-md-4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5112" y="2743200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7952B3"/>
          </a:solidFill>
          <a:ln/>
        </p:spPr>
        <p:txBody>
          <a:bodyPr/>
          <a:lstStyle/>
          <a:p>
            <a:endParaRPr lang="es-ES" sz="2000"/>
          </a:p>
        </p:txBody>
      </p:sp>
      <p:sp>
        <p:nvSpPr>
          <p:cNvPr id="21" name="Text 18"/>
          <p:cNvSpPr/>
          <p:nvPr/>
        </p:nvSpPr>
        <p:spPr>
          <a:xfrm>
            <a:off x="4325112" y="27432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col-md-4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101584" y="2743200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7952B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20"/>
          <p:cNvSpPr/>
          <p:nvPr/>
        </p:nvSpPr>
        <p:spPr>
          <a:xfrm>
            <a:off x="8101584" y="27432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col-md-4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548640" y="3749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el formulario de la demo usa col-md-6 y col-md-4 para distribuir campos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14800"/>
          <a:ext cx="5486400" cy="15544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Breakpoint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Prefijo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 mínimo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col-sm-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≥576px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col-md-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≥768px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col-lg-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≥992px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X-Large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col-xl-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≥1200px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5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ISW-521 · Programación en Ambiente Web I — Bootstrap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548640" cy="548640"/>
          </a:xfrm>
          <a:prstGeom prst="ellipse">
            <a:avLst/>
          </a:prstGeom>
          <a:solidFill>
            <a:srgbClr val="7952B3"/>
          </a:solidFill>
          <a:ln/>
        </p:spPr>
        <p:txBody>
          <a:bodyPr/>
          <a:lstStyle/>
          <a:p>
            <a:endParaRPr lang="es-ES" sz="20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8463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3657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¿Cuándo conviene usarlo... y cuándo no?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6EC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00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554480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57276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Conviene usarlo cuando...</a:t>
            </a: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868680" y="2148840"/>
            <a:ext cx="475488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necesita un prototipo o MVP rápido sin diseñador dedicado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es pequeño y prioriza velocidad sobre diseño 100% único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requiere consistencia visual inmediata (paneles admin, dashboards internos)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ya conoce Bootstrap y el tiempo de entrega es corto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217920" y="137160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BEAEA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00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55448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995160" y="157276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conviene cuando...</a:t>
            </a:r>
            <a:endParaRPr lang="en-US" dirty="0"/>
          </a:p>
        </p:txBody>
      </p:sp>
      <p:sp>
        <p:nvSpPr>
          <p:cNvPr id="12" name="Text 7"/>
          <p:cNvSpPr/>
          <p:nvPr/>
        </p:nvSpPr>
        <p:spPr>
          <a:xfrm>
            <a:off x="6537960" y="2148840"/>
            <a:ext cx="475488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requiere identidad visual 100% a medida (se termina sobrescribiendo casi todo el CSS)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peso final del bundle importa mucho (apps muy ligeras, sitios de alto rendimiento)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quiere evitar JavaScript adicional y solo se necesitan utilidades CSS puras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ISW-521 · Programación en Ambiente Web I — Bootstrap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vs. Tailwind CSS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394960" y="1325880"/>
            <a:ext cx="502920" cy="502920"/>
          </a:xfrm>
          <a:prstGeom prst="ellipse">
            <a:avLst/>
          </a:prstGeom>
          <a:solidFill>
            <a:srgbClr val="7952B3"/>
          </a:solidFill>
          <a:ln/>
        </p:spPr>
        <p:txBody>
          <a:bodyPr/>
          <a:lstStyle/>
          <a:p>
            <a:endParaRPr lang="es-ES" sz="2400"/>
          </a:p>
        </p:txBody>
      </p:sp>
      <p:sp>
        <p:nvSpPr>
          <p:cNvPr id="8" name="Text 6"/>
          <p:cNvSpPr/>
          <p:nvPr/>
        </p:nvSpPr>
        <p:spPr>
          <a:xfrm>
            <a:off x="539496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6336708"/>
              </p:ext>
            </p:extLst>
          </p:nvPr>
        </p:nvGraphicFramePr>
        <p:xfrm>
          <a:off x="548640" y="2240280"/>
          <a:ext cx="11064240" cy="35661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33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952B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Tailwind CSS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B6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FE9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Enfoque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Componentes ya armados (btn, card, navbar)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Utilidades atómicas (flex, p-4, text-center)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FE9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Curva de aprendizaje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 al inicio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Más alta al inicio, más control después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FE9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Personalización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 Sass + recompilar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tailwind.config.js, muy flexible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FE9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 incluido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 (modales, dropdowns, carousels)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solo CSS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FE9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final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Más pesado si no se purga CSS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Liviano (purga automática)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41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F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resuelven "diseño responsive consistente": Bootstrap entrega componentes listos, Tailwind entrega control granular sin opinión visual.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ISW-521 · Programación en Ambiente Web I — Bootstrap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9196CE1-6BF8-9BED-B3D6-77EDA52D6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72" y="563139"/>
            <a:ext cx="2589848" cy="1726565"/>
          </a:xfrm>
          <a:prstGeom prst="rect">
            <a:avLst/>
          </a:prstGeom>
        </p:spPr>
      </p:pic>
      <p:pic>
        <p:nvPicPr>
          <p:cNvPr id="19" name="Imagen 18" descr="Archivo:Tailwind CSS Logo.svg - Wikipedia, la enciclopedia libre">
            <a:extLst>
              <a:ext uri="{FF2B5EF4-FFF2-40B4-BE49-F238E27FC236}">
                <a16:creationId xmlns:a16="http://schemas.microsoft.com/office/drawing/2014/main" id="{3C9EAC29-3138-4C2B-1206-FDA4EC2ED0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6519" y="930819"/>
            <a:ext cx="1805833" cy="110372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7952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44337A">
              <a:alpha val="55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FFFFFF">
              <a:alpha val="85000"/>
            </a:srgbClr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576072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411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Ecosistema actual (2026)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36576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000"/>
          </a:p>
        </p:txBody>
      </p:sp>
      <p:sp>
        <p:nvSpPr>
          <p:cNvPr id="7" name="Text 4"/>
          <p:cNvSpPr/>
          <p:nvPr/>
        </p:nvSpPr>
        <p:spPr>
          <a:xfrm>
            <a:off x="548640" y="1463040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43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5.3.8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822960" y="224028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estable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53128" y="1371600"/>
            <a:ext cx="36576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000"/>
          </a:p>
        </p:txBody>
      </p:sp>
      <p:sp>
        <p:nvSpPr>
          <p:cNvPr id="10" name="Text 7"/>
          <p:cNvSpPr/>
          <p:nvPr/>
        </p:nvSpPr>
        <p:spPr>
          <a:xfrm>
            <a:off x="4453128" y="1463040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43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2011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4727448" y="224028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de lanzamiento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(Twitter)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357616" y="1371600"/>
            <a:ext cx="36576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000"/>
          </a:p>
        </p:txBody>
      </p:sp>
      <p:sp>
        <p:nvSpPr>
          <p:cNvPr id="13" name="Text 10"/>
          <p:cNvSpPr/>
          <p:nvPr/>
        </p:nvSpPr>
        <p:spPr>
          <a:xfrm>
            <a:off x="8357616" y="1463040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43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8631936" y="224028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 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abierto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492752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E1B2E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000"/>
          </a:p>
        </p:txBody>
      </p:sp>
      <p:sp>
        <p:nvSpPr>
          <p:cNvPr id="16" name="Text 13"/>
          <p:cNvSpPr/>
          <p:nvPr/>
        </p:nvSpPr>
        <p:spPr>
          <a:xfrm>
            <a:off x="868680" y="46634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E9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documentación oficial getbootstrap.com (Bootstrap, front-end framework)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68680" y="507492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versión 5.3 reescribió el núcleo de Bootstrap para dar soporte nativo a modo oscuro y variables CSS, sin dependencia de jQuery.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ISW-521 · Programación en Ambiente Web I — Bootstrap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995</Words>
  <Application>Microsoft Office PowerPoint</Application>
  <PresentationFormat>Panorámica</PresentationFormat>
  <Paragraphs>115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Bootstrap: Framework CSS para Desarrollo Responsive</dc:title>
  <dc:subject>PptxGenJS Presentation</dc:subject>
  <dc:creator>Grupo ISW-521</dc:creator>
  <cp:lastModifiedBy>SAMUEL FERNANDEZ RAMIREZ</cp:lastModifiedBy>
  <cp:revision>3</cp:revision>
  <dcterms:created xsi:type="dcterms:W3CDTF">2026-06-20T21:14:15Z</dcterms:created>
  <dcterms:modified xsi:type="dcterms:W3CDTF">2026-06-22T14:18:55Z</dcterms:modified>
</cp:coreProperties>
</file>